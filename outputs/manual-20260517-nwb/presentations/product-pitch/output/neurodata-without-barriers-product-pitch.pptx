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96902a73ae4966" /><Relationship Type="http://schemas.openxmlformats.org/officeDocument/2006/relationships/extended-properties" Target="/docProps/app.xml" Id="R4abed3b0d4e3497f" /><Relationship Type="http://schemas.openxmlformats.org/officeDocument/2006/relationships/officeDocument" Target="/ppt/presentation.xml" Id="Re933fce71c5c48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2a442fe5ac4650"/>
  </p:sldMasterIdLst>
  <p:notesMasterIdLst>
    <p:notesMasterId xmlns:r="http://schemas.openxmlformats.org/officeDocument/2006/relationships" r:id="Reddbb2bfd5c4435a"/>
  </p:notesMasterIdLst>
  <p:sldIdLst>
    <p:sldId xmlns:r="http://schemas.openxmlformats.org/officeDocument/2006/relationships" id="256" r:id="R163a32abe6fd4d64"/>
    <p:sldId xmlns:r="http://schemas.openxmlformats.org/officeDocument/2006/relationships" id="257" r:id="R10064be5ef604048"/>
    <p:sldId xmlns:r="http://schemas.openxmlformats.org/officeDocument/2006/relationships" id="258" r:id="Re631643761eb4820"/>
    <p:sldId xmlns:r="http://schemas.openxmlformats.org/officeDocument/2006/relationships" id="259" r:id="R7be3ab23af4149fe"/>
    <p:sldId xmlns:r="http://schemas.openxmlformats.org/officeDocument/2006/relationships" id="260" r:id="Ra4c6e2f7bcbb4f6d"/>
    <p:sldId xmlns:r="http://schemas.openxmlformats.org/officeDocument/2006/relationships" id="261" r:id="R6063aaeb57754f5d"/>
    <p:sldId xmlns:r="http://schemas.openxmlformats.org/officeDocument/2006/relationships" id="262" r:id="R6ddfd281c9724c5b"/>
    <p:sldId xmlns:r="http://schemas.openxmlformats.org/officeDocument/2006/relationships" id="263" r:id="R5b3543f0cbe84d62"/>
    <p:sldId xmlns:r="http://schemas.openxmlformats.org/officeDocument/2006/relationships" id="264" r:id="Rae5b46c52f19463c"/>
    <p:sldId xmlns:r="http://schemas.openxmlformats.org/officeDocument/2006/relationships" id="265" r:id="Ra28332efd77a4c02"/>
    <p:sldId xmlns:r="http://schemas.openxmlformats.org/officeDocument/2006/relationships" id="266" r:id="R7588d4d7e8b94cf7"/>
    <p:sldId xmlns:r="http://schemas.openxmlformats.org/officeDocument/2006/relationships" id="267" r:id="R30fe1ffe19a24326"/>
    <p:sldId xmlns:r="http://schemas.openxmlformats.org/officeDocument/2006/relationships" id="268" r:id="R31ea9fb3e59942b1"/>
    <p:sldId xmlns:r="http://schemas.openxmlformats.org/officeDocument/2006/relationships" id="269" r:id="R2dda77102c83485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2a442fe5ac4650" /><Relationship Type="http://schemas.openxmlformats.org/officeDocument/2006/relationships/theme" Target="/ppt/theme/theme1.xml" Id="R5046e716539c4216" /><Relationship Type="http://schemas.openxmlformats.org/officeDocument/2006/relationships/notesMaster" Target="/ppt/notesMasters/notesMaster1.xml" Id="Reddbb2bfd5c4435a" /><Relationship Type="http://schemas.openxmlformats.org/officeDocument/2006/relationships/presProps" Target="/ppt/presProps.xml" Id="R2c9f4629104c421f" /><Relationship Type="http://schemas.openxmlformats.org/officeDocument/2006/relationships/viewProps" Target="/ppt/viewProps.xml" Id="R7ef0e79a82824de9" /><Relationship Type="http://schemas.openxmlformats.org/officeDocument/2006/relationships/tableStyles" Target="/ppt/tableStyles.xml" Id="R624a441e595546ed" /><Relationship Type="http://schemas.openxmlformats.org/officeDocument/2006/relationships/slide" Target="/ppt/slides/slide1.xml" Id="R163a32abe6fd4d64" /><Relationship Type="http://schemas.openxmlformats.org/officeDocument/2006/relationships/slide" Target="/ppt/slides/slide2.xml" Id="R10064be5ef604048" /><Relationship Type="http://schemas.openxmlformats.org/officeDocument/2006/relationships/slide" Target="/ppt/slides/slide3.xml" Id="Re631643761eb4820" /><Relationship Type="http://schemas.openxmlformats.org/officeDocument/2006/relationships/slide" Target="/ppt/slides/slide4.xml" Id="R7be3ab23af4149fe" /><Relationship Type="http://schemas.openxmlformats.org/officeDocument/2006/relationships/slide" Target="/ppt/slides/slide5.xml" Id="Ra4c6e2f7bcbb4f6d" /><Relationship Type="http://schemas.openxmlformats.org/officeDocument/2006/relationships/slide" Target="/ppt/slides/slide6.xml" Id="R6063aaeb57754f5d" /><Relationship Type="http://schemas.openxmlformats.org/officeDocument/2006/relationships/slide" Target="/ppt/slides/slide7.xml" Id="R6ddfd281c9724c5b" /><Relationship Type="http://schemas.openxmlformats.org/officeDocument/2006/relationships/slide" Target="/ppt/slides/slide8.xml" Id="R5b3543f0cbe84d62" /><Relationship Type="http://schemas.openxmlformats.org/officeDocument/2006/relationships/slide" Target="/ppt/slides/slide9.xml" Id="Rae5b46c52f19463c" /><Relationship Type="http://schemas.openxmlformats.org/officeDocument/2006/relationships/slide" Target="/ppt/slides/slide10.xml" Id="Ra28332efd77a4c02" /><Relationship Type="http://schemas.openxmlformats.org/officeDocument/2006/relationships/slide" Target="/ppt/slides/slide11.xml" Id="R7588d4d7e8b94cf7" /><Relationship Type="http://schemas.openxmlformats.org/officeDocument/2006/relationships/slide" Target="/ppt/slides/slide12.xml" Id="R30fe1ffe19a24326" /><Relationship Type="http://schemas.openxmlformats.org/officeDocument/2006/relationships/slide" Target="/ppt/slides/slide13.xml" Id="R31ea9fb3e59942b1" /><Relationship Type="http://schemas.openxmlformats.org/officeDocument/2006/relationships/slide" Target="/ppt/slides/slide14.xml" Id="R2dda77102c8348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d15c9ac829d43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c1160ab0c348b6" /><Relationship Type="http://schemas.openxmlformats.org/officeDocument/2006/relationships/notesMaster" Target="/ppt/notesMasters/notesMaster1.xml" Id="Rd25f9cd7010f41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a28e0c352b4c91" /><Relationship Type="http://schemas.openxmlformats.org/officeDocument/2006/relationships/notesMaster" Target="/ppt/notesMasters/notesMaster1.xml" Id="R6382898f51f740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940b44bd80460b" /><Relationship Type="http://schemas.openxmlformats.org/officeDocument/2006/relationships/notesMaster" Target="/ppt/notesMasters/notesMaster1.xml" Id="Ra17814dae7294d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84f188fe194ae1" /><Relationship Type="http://schemas.openxmlformats.org/officeDocument/2006/relationships/notesMaster" Target="/ppt/notesMasters/notesMaster1.xml" Id="Rdbc77028392f45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5f2b61086a4b1f" /><Relationship Type="http://schemas.openxmlformats.org/officeDocument/2006/relationships/notesMaster" Target="/ppt/notesMasters/notesMaster1.xml" Id="Rdf3d4c6944fc4b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edf7d5c1884e77" /><Relationship Type="http://schemas.openxmlformats.org/officeDocument/2006/relationships/notesMaster" Target="/ppt/notesMasters/notesMaster1.xml" Id="Rf8e8c9e6a98340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aecd297c2047b3" /><Relationship Type="http://schemas.openxmlformats.org/officeDocument/2006/relationships/notesMaster" Target="/ppt/notesMasters/notesMaster1.xml" Id="Rc79203a57ff341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1734c30b964a7e" /><Relationship Type="http://schemas.openxmlformats.org/officeDocument/2006/relationships/notesMaster" Target="/ppt/notesMasters/notesMaster1.xml" Id="R3b9203083f2d42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57c0e4394f4272" /><Relationship Type="http://schemas.openxmlformats.org/officeDocument/2006/relationships/notesMaster" Target="/ppt/notesMasters/notesMaster1.xml" Id="Rbc8bfe444ba246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2e7b289a574630" /><Relationship Type="http://schemas.openxmlformats.org/officeDocument/2006/relationships/notesMaster" Target="/ppt/notesMasters/notesMaster1.xml" Id="Rdcef445f7dc94d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e48220338c4f50" /><Relationship Type="http://schemas.openxmlformats.org/officeDocument/2006/relationships/notesMaster" Target="/ppt/notesMasters/notesMaster1.xml" Id="Rc4e357d73aeb4c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1a62a6b581b4c80" /><Relationship Type="http://schemas.openxmlformats.org/officeDocument/2006/relationships/notesMaster" Target="/ppt/notesMasters/notesMaster1.xml" Id="R5d5aadda7042479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df9f83f228d43ec" /><Relationship Type="http://schemas.openxmlformats.org/officeDocument/2006/relationships/notesMaster" Target="/ppt/notesMasters/notesMaster1.xml" Id="Rf23ee9965614434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3206ce9495c4b3a" /><Relationship Type="http://schemas.openxmlformats.org/officeDocument/2006/relationships/notesMaster" Target="/ppt/notesMasters/notesMaster1.xml" Id="R3818ebd80ace40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b84bd342924f2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74c016b3eb54eb2" /><Relationship Type="http://schemas.openxmlformats.org/officeDocument/2006/relationships/slideLayout" Target="/ppt/slideLayouts/slideLayout2.xml" Id="R41b15330251642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b15330251642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417d25176649b4" /><Relationship Type="http://schemas.openxmlformats.org/officeDocument/2006/relationships/notesSlide" Target="/ppt/notesSlides/notesSlide1.xml" Id="R9513ab14e21243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cf060aad104ca4" /><Relationship Type="http://schemas.openxmlformats.org/officeDocument/2006/relationships/notesSlide" Target="/ppt/notesSlides/notesSlide2.xml" Id="R9bbf672cacfd41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742b3d16a14fee" /><Relationship Type="http://schemas.openxmlformats.org/officeDocument/2006/relationships/notesSlide" Target="/ppt/notesSlides/notesSlide3.xml" Id="R206bf8a6c89444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2bd263120e4f7e" /><Relationship Type="http://schemas.openxmlformats.org/officeDocument/2006/relationships/notesSlide" Target="/ppt/notesSlides/notesSlide4.xml" Id="Rdce210424adf4a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c886fcb0c84e2d" /><Relationship Type="http://schemas.openxmlformats.org/officeDocument/2006/relationships/notesSlide" Target="/ppt/notesSlides/notesSlide5.xml" Id="Rcf4ffd8c94d542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8b53a2b6024ace" /><Relationship Type="http://schemas.openxmlformats.org/officeDocument/2006/relationships/notesSlide" Target="/ppt/notesSlides/notesSlide6.xml" Id="Rb1bb58566cac48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040beb2c4341cb" /><Relationship Type="http://schemas.openxmlformats.org/officeDocument/2006/relationships/notesSlide" Target="/ppt/notesSlides/notesSlide7.xml" Id="R7d0d9636094546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212002248949a1" /><Relationship Type="http://schemas.openxmlformats.org/officeDocument/2006/relationships/notesSlide" Target="/ppt/notesSlides/notesSlide8.xml" Id="R79c2dfd1d9914d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5239f37b544b70" /><Relationship Type="http://schemas.openxmlformats.org/officeDocument/2006/relationships/notesSlide" Target="/ppt/notesSlides/notesSlide9.xml" Id="R63044c0e164846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f1c2c8ced141f6" /><Relationship Type="http://schemas.openxmlformats.org/officeDocument/2006/relationships/notesSlide" Target="/ppt/notesSlides/notesSlide10.xml" Id="R4eb20121399344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18a41670a24068" /><Relationship Type="http://schemas.openxmlformats.org/officeDocument/2006/relationships/notesSlide" Target="/ppt/notesSlides/notesSlide11.xml" Id="R9db58f314c1e4b0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421648d4dc4220" /><Relationship Type="http://schemas.openxmlformats.org/officeDocument/2006/relationships/notesSlide" Target="/ppt/notesSlides/notesSlide12.xml" Id="R7497e2ec3e0641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d45ff4bfe44247" /><Relationship Type="http://schemas.openxmlformats.org/officeDocument/2006/relationships/notesSlide" Target="/ppt/notesSlides/notesSlide13.xml" Id="Rfbb2d62d55104ba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5dc72c766449f6" /><Relationship Type="http://schemas.openxmlformats.org/officeDocument/2006/relationships/notesSlide" Target="/ppt/notesSlides/notesSlide14.xml" Id="Rd795e15a05e64a3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B0BCA8-1F6D-4D11-ADD2-82FAD99C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EED28-CD8A-4673-A9BF-E01E6852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87988-CF66-4D2F-AF4A-51459A4A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7625" cy="464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7A254C4B-7D80-41C6-BCCF-9121FCBB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322340C4-24AA-4E85-888D-809CAF47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PRODUCT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D0984-6205-4E54-9ED8-D630495A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23950"/>
            <a:ext cx="48577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rPr>
              <a:t>Neurodata</a:t>
            </a:r>
          </a:p>
          <a:p xmlns:a="http://schemas.openxmlformats.org/drawingml/2006/main">
            <a:pPr algn="l">
              <a:defRPr sz="3750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rPr>
              <a:t>Without</a:t>
            </a:r>
          </a:p>
          <a:p xmlns:a="http://schemas.openxmlformats.org/drawingml/2006/main">
            <a:pPr algn="l">
              <a:defRPr sz="3750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rPr>
              <a:t>Barriers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D17FF-A2D2-4A96-8F46-79FECFE5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90875"/>
            <a:ext cx="590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FE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FE6"/>
                </a:solidFill>
                <a:latin typeface="Aptos"/>
                <a:ea typeface="Aptos"/>
                <a:cs typeface="Aptos"/>
              </a:rPr>
              <a:t>An agent-native operating layer for neuroscience datasets: searchable archives, inspectable local downloads, explainable variables, and reusable workflows across DANDI, OpenNeuro, and IBL.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B6B020-49E7-4A09-9A40-1506A60E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876300"/>
            <a:ext cx="3143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C"/>
          </a:solidFill>
          <a:ln xmlns:a="http://schemas.openxmlformats.org/drawingml/2006/main" w="9525">
            <a:solidFill>
              <a:srgbClr val="5360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D18147-7BF4-4B35-B8E6-9C81453E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001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C5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C5D0"/>
                </a:solidFill>
                <a:latin typeface="Aptos"/>
                <a:ea typeface="Aptos"/>
                <a:cs typeface="Aptos"/>
              </a:rPr>
              <a:t>Built today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3A4DF3-08D4-4DCC-83C3-30031437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192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3159B-EB6D-42C3-84E7-B6D5B412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1434C-961A-4F40-AC6D-44968A75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955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AEB9C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AEB9C4"/>
                </a:solidFill>
                <a:latin typeface="Aptos"/>
                <a:ea typeface="Aptos"/>
                <a:cs typeface="Aptos"/>
              </a:rPr>
              <a:t>Archive ecosystems connected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870D9-F453-4AF4-9747-4EA2AD87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76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2759D-F6D7-41E6-A5F3-BF22130D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098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rPr>
              <a:t>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0325AF-A9B7-4BAA-97E7-C76DEBD0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527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AEB9C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AEB9C4"/>
                </a:solidFill>
                <a:latin typeface="Aptos"/>
                <a:ea typeface="Aptos"/>
                <a:cs typeface="Aptos"/>
              </a:rPr>
              <a:t>Shared agent workflow tools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58258-D2E1-479B-992E-871095FC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33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C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F8951E-1A0F-4AB1-AE28-B9770F14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671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rPr>
              <a:t>30k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0F19FB-1BD9-4473-988E-463B8808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100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AEB9C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AEB9C4"/>
                </a:solidFill>
                <a:latin typeface="Aptos"/>
                <a:ea typeface="Aptos"/>
                <a:cs typeface="Aptos"/>
              </a:rPr>
              <a:t>Approx. inserted lines in today's 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EF87D9-EAE0-40C8-8DA8-84D3F37E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053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5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8C5D0"/>
                </a:solidFill>
                <a:latin typeface="Aptos"/>
                <a:ea typeface="Aptos"/>
                <a:cs typeface="Aptos"/>
              </a:rPr>
              <a:t>MCP servers + browser app + docs + Docker + Vercel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680023-16D7-4A5F-AAA0-F3EBD9CE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0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53BD24-E9D1-42BA-98E1-03C95756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EB9C4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AEB9C4"/>
                </a:solidFill>
                <a:latin typeface="Aptos"/>
                <a:ea typeface="Aptos"/>
                <a:cs typeface="Aptos"/>
              </a:rPr>
              <a:t>Source: repository git history and docs, May 17, 2026.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39747B-D54C-40F9-903A-0C1391D0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EB9C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EB9C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304067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23FC1B-6940-4D1E-9E9C-26006F85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C3BF5950-6775-4C06-9617-4A7AAF66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B8FB9A59-DB1C-4E9E-8ACB-20E54AA3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58873-F593-467B-9FE7-1AA5B4F6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905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Neurodata reuse breaks at every boundary between archive, file, metadata, and paper.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B4D9C-EA2D-4980-8BDB-4D2B234F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676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A researcher or agent can find a dataset, but still has to resolve archive APIs, file formats, local paths, scientific variables, and publication context before analysis can begin.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EC58D-9ABB-4A9E-951C-D0F2FEFA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C9C1B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904A8-EA6D-4280-BEAA-9C2A715E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8884E-EE09-4716-AECD-C71B5F5D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432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Archive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11A63E-3C3D-46BE-9FBD-82935454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5272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DANDI, OpenNeuro, and IBL expose different APIs and domain models.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EB438-C111-479C-AF69-B53B8322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9525">
            <a:solidFill>
              <a:srgbClr val="C9C1B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05A44F-6B08-4ADE-84CD-59D70CC2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C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8D060-6F23-4B91-9B58-ABE55D88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290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File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D8F4C-9EAC-405B-9E9C-8AAF0CF3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3852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NWB, BIDS, and ALF encode subjects, sessions, and signals differently.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FB450D-35D1-4138-A524-BBAEC917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C9C1B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2C2E66-4D3B-406C-A104-7C6C3D7B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73638C-B4A3-45D1-A38C-291F4825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148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Local boundary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038B5C-71DB-4ADF-A3C7-E370FDA9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2432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Downloaded data needs safe indexing without mutating source files.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021778-2ADF-42B6-9711-D0E2E6A1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9525">
            <a:solidFill>
              <a:srgbClr val="C9C1B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AB9069-5C03-4144-AF7A-1B080EBB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B6F09F-F00A-49E6-8530-0C725F33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006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Meaning boundary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FE08B9-2452-4EA0-922B-91B1B9D7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1012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Variables need metadata, papers, and local object context to be explainable.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BBD5D6-C5FF-47CE-8206-3FE8F6D9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09850"/>
            <a:ext cx="26479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4F24D1-1BAC-45EB-9B2D-ED130B88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0990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rPr>
              <a:t>The gap is not access.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C396B7-789F-4255-AA70-91D1244F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766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6C2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96C2C"/>
                </a:solidFill>
                <a:latin typeface="Aptos Display"/>
                <a:ea typeface="Aptos Display"/>
                <a:cs typeface="Aptos Display"/>
              </a:rPr>
              <a:t>It is usable context.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3CF9A3-53A0-40EE-8C04-4EBE2BEF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529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2D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2DB"/>
                </a:solidFill>
                <a:latin typeface="Aptos"/>
                <a:ea typeface="Aptos"/>
                <a:cs typeface="Aptos"/>
              </a:rPr>
              <a:t>The suite preserves provider-specific science while giving agents one operational pattern.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3F1905-C7A2-43E4-B75B-10B8549A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320A0C-5109-49FB-BED9-B2FE1ADA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Source: local repo docs and git history, May 17, 2026.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735415-8F14-46C7-94EE-2C9CB28D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717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097603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D69484-DF13-4E35-A345-489EADA0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70DDECBD-7328-42CF-9499-48D74E29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0CEDDB1A-9A63-467F-B791-4240831A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PRODUCT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26307-1E9C-4E6B-A710-534D01ED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The suite turns three neuroscience archives into one agent workflow without flattening their science.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086F3-075F-4D60-8475-2B55DD7C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933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11430">
            <a:solidFill>
              <a:srgbClr val="1F7A8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49BC7F-207B-4E7A-83EF-FD6DED2E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5D1FEC-49C7-4D90-8AE6-EBB10FF4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DANDI MCP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7C377-AA81-45A5-913E-325DC329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9825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Dandisets, versions, assets, NWB/Zarr, validation, trials, signal inventory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86E77-06D1-472D-8F5C-0F84A107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7172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5EAFC4-A391-42BA-B37D-F3847CD6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33625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936BB0-10AB-41EE-A251-252857A1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933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11430">
            <a:solidFill>
              <a:srgbClr val="4D6C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3F2157-7960-459B-9F1A-1C12D9EC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C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A29BF9-CE33-49B4-9C93-0FB241AD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765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OpenNeuro MCP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546B06-6158-4EC2-8689-21108355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6125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Dataset search, BIDS metadata, participants, events, derivatives, semantic discovery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B95F16-049D-4E9E-9C35-97D82CAE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4802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EB2452-FF25-460D-9221-7B655578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09925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D0C62D-6279-44EF-9B48-D5FEABEC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933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11430">
            <a:solidFill>
              <a:srgbClr val="778A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F12B65-E7DC-4CAC-AEDA-E98180DD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3BB5FC-B26D-4240-8B01-5D61A4B2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IBL MCP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F6204D-E7DF-410E-B9D1-381CCEFA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62425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OpenAlyx sessions, datasets, subjects, probes, behavior, ecephys, ALF files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C31215-CF66-4635-B6D9-10D02E9E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2432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ADEBCF-9B3E-408C-BA42-4AE6CB64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86225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7376FE-BF1D-4F72-A23D-29581023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6860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5768DB-DED5-4A2C-BC87-5FEC6AA6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431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rPr>
              <a:t>Shared local + literature workflow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0355BF-F5F5-4FBF-A389-916AE5CA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4800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A45"/>
          </a:solidFill>
          <a:ln xmlns:a="http://schemas.openxmlformats.org/drawingml/2006/main" w="9525">
            <a:solidFill>
              <a:srgbClr val="1F7A8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2DE2C7-B3F8-4EAF-AD18-2524F476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1467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register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1DE732-EC2D-459B-9571-645E2ABF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4800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A45"/>
          </a:solidFill>
          <a:ln xmlns:a="http://schemas.openxmlformats.org/drawingml/2006/main" w="9525">
            <a:solidFill>
              <a:srgbClr val="D96C2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AF8F3B-9331-4EFC-AA20-ECA61BAF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1467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index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47514D-0E62-478F-8385-D89D7EF6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0995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A45"/>
          </a:solidFill>
          <a:ln xmlns:a="http://schemas.openxmlformats.org/drawingml/2006/main" w="9525">
            <a:solidFill>
              <a:srgbClr val="1F7A8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105CED-F0CF-4966-8204-0D498094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7662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inventory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05504B-602D-434C-9B83-7775F930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0995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A45"/>
          </a:solidFill>
          <a:ln xmlns:a="http://schemas.openxmlformats.org/drawingml/2006/main" w="9525">
            <a:solidFill>
              <a:srgbClr val="D96C2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EC6E18-131F-430D-B99E-25E15ED1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7662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papers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D08ABA-6082-4D22-B2BB-C6EFA451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77190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A45"/>
          </a:solidFill>
          <a:ln xmlns:a="http://schemas.openxmlformats.org/drawingml/2006/main" w="9525">
            <a:solidFill>
              <a:srgbClr val="1F7A8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BB2FA2-8673-4213-8AE7-F57A1EE5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83857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4FF9B9-2505-466F-AE3B-F58F7475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7190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A45"/>
          </a:solidFill>
          <a:ln xmlns:a="http://schemas.openxmlformats.org/drawingml/2006/main" w="9525">
            <a:solidFill>
              <a:srgbClr val="D96C2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14168C-46D4-4294-87DB-FD053A1E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3857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9A78C9-EC7D-46D9-97BB-632B0BF0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1B54A5-F63C-433F-BEFA-4FAC479F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813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C7C308-4417-48B2-8A16-32D68461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33600"/>
            <a:ext cx="22860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C9C1B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7DB43E-5FBB-4B91-AF34-E2EC43F9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003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Outputs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FF536C-955E-471C-B51B-E73BCAAB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00350"/>
            <a:ext cx="1638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Dataset pages</a:t>
            </a:r>
          </a:p>
          <a:p xmlns:a="http://schemas.openxmlformats.org/drawingml/2006/main">
            <a:pPr algn="l">
              <a:defRPr sz="97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Variable maps</a:t>
            </a:r>
          </a:p>
          <a:p xmlns:a="http://schemas.openxmlformats.org/drawingml/2006/main">
            <a:pPr algn="l">
              <a:defRPr sz="97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Loading code</a:t>
            </a:r>
          </a:p>
          <a:p xmlns:a="http://schemas.openxmlformats.org/drawingml/2006/main">
            <a:pPr algn="l">
              <a:defRPr sz="97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Evidence notes</a:t>
            </a:r>
          </a:p>
          <a:p xmlns:a="http://schemas.openxmlformats.org/drawingml/2006/main">
            <a:pPr algn="l">
              <a:defRPr sz="97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Skill zip exports</a:t>
            </a:r>
          </a:p>
          <a:p xmlns:a="http://schemas.openxmlformats.org/drawingml/2006/main">
            <a:pPr algn="l">
              <a:defRPr sz="97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Markdown reports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AA151E-FCF8-4D65-A6DB-CD93B6AD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2419AD-F214-435E-B64A-EE6A4DA8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Source: local repo docs and git history, May 17, 2026.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4F2C1D-DE14-4C82-B20C-CDD88672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717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219119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39A9B0-17B1-4116-9FAD-452F088C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DC438655-947C-487E-A237-479DF982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4C89358C-BA87-457E-A982-4259B8FC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BUILT TODAY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913F1-2108-47BA-8935-B90BF283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The repo moved from foundation to deployable product in one build cycle.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88FA4-1442-4120-9465-6BC92F97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7620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Git history shows a stepwise build: server foundations, shared storage, safety checks, local explorers, literature-aware tooling, visual workflows, web app, docs, and deployment config.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B4B11-6428-483B-B8CE-6385B911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0"/>
            <a:ext cx="971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5ABBD-571D-480A-A99C-3FE1D57A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24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383B7-2658-4422-9C09-25D9EE9A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1465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12:57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DCB7A-8680-4533-A2FD-23FD2655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9570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Initial MCP foundations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81D3A7-C6A1-43E0-B8FB-756069DD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24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C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AF5130-8D1E-4529-839C-AE511224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91465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14:44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4E5ADC-2E9A-44FD-84A2-018E3D9B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9570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Shared storage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C10787-2E83-418F-A7E5-473256BD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24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E57DE0-A085-4E57-8DC0-5642BE7D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1465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15:33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DF5ECC-FE7E-4803-8653-90720ABA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9570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Local explorers across servers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6E9967-C643-4BD9-A918-6A7CB7C7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24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53520-089E-4378-A51A-AD97A748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1465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16:29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021D87-705C-4747-ADFA-6AEB735A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9570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Literature-aware tools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02AC34-8FEA-4FED-BA1D-2BF1B474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24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25249D-0CE5-47F2-9273-DFD92CC7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1465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17:06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25441A-A9AF-41C5-BEF9-69CA10FA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9570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Hostable web explorer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53143F-E990-4A4F-951A-6076D944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324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C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801D2A-9466-42D0-894A-E9A88352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1465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17:18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A05461-338F-40E0-A297-F5EC2237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9570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Vercel deployment config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CBD3E1-DB40-4553-A53B-0AE7A977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1695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C9C1B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C80EC6-304C-4191-8A34-023F80B7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43475"/>
            <a:ext cx="533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7A8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F7A8C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C26D8A-F721-4D01-85A6-03252799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1015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commits today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5D43A5-9EC5-4FA9-BA6D-712E739A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19650"/>
            <a:ext cx="1695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9525">
            <a:solidFill>
              <a:srgbClr val="C9C1B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3E28EA-482A-4FAF-8BD3-C5BEA502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43475"/>
            <a:ext cx="533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D6CF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4D6CFA"/>
                </a:solidFill>
                <a:latin typeface="Aptos Display"/>
                <a:ea typeface="Aptos Display"/>
                <a:cs typeface="Aptos Display"/>
              </a:rPr>
              <a:t>214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ABC5F3-5B04-431E-BB19-AE511B13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1015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changed-file touches in shortstats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E01035-2CA3-472F-B9C5-250583B1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19650"/>
            <a:ext cx="1695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C9C1B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98E7D7-468C-449F-94CC-839B5392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43475"/>
            <a:ext cx="533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7A8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F7A8C"/>
                </a:solidFill>
                <a:latin typeface="Aptos Display"/>
                <a:ea typeface="Aptos Display"/>
                <a:cs typeface="Aptos Display"/>
              </a:rPr>
              <a:t>17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8A68C7-9BC6-4FBE-B170-4A26785E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01015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test files across MCP suites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AC8E63-EC10-4492-B3A4-BBAE44F3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19650"/>
            <a:ext cx="1695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9525">
            <a:solidFill>
              <a:srgbClr val="C9C1B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78B80F-D5A6-4406-9FB5-673E90FA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43475"/>
            <a:ext cx="533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D6CF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4D6CFA"/>
                </a:solidFill>
                <a:latin typeface="Aptos Display"/>
                <a:ea typeface="Aptos Display"/>
                <a:cs typeface="Aptos Display"/>
              </a:rPr>
              <a:t>32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8C6BBB-EBF5-4E74-9601-893E591A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01015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documentation files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210A5B-F316-4C34-8B92-40643187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8A477D-6393-4380-9E93-1A25E1D5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Source: local repo docs and git history, May 17, 2026.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0B94E1-63ED-47D5-8158-590A813C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717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7164296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5B6E49-4882-45D1-93C8-540C1B81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29EAD41B-6B77-4F4F-8B30-24E92B60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FCD9AACF-17C2-4D8A-9BAB-394AD1CF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SHARED EXPLORER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A169F-7EA4-4866-B782-48F448D9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143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One local workflow now spans DANDI, OpenNeuro, and IBL.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EDA92-F74B-4ADF-BD27-929AA785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The shared API lets agents operate downloaded datasets through the same high-level pattern while preserving provider-specific semantics under the hood.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74636-A302-47CC-9490-764EC5F7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6147E-F708-4EFB-8DFB-0AB40C81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33650"/>
            <a:ext cx="2209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Workflow 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06B4C-D472-4EE4-8059-52E760B3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384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24C57-FB48-4E3F-8FEF-EC1991A8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33650"/>
            <a:ext cx="1543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DANDI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5D2F1-1AA9-491D-B986-9FAC3FF7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384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B5907-FB88-41EE-BD99-FFD6DF73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33650"/>
            <a:ext cx="1543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OpenNeuro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627D1-19A3-4A83-B5F3-998F149B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384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D63A6-B6B1-4DB5-A181-F588DD21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33650"/>
            <a:ext cx="1543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IBL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EB78C9-28EF-4087-B951-822EFF99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7620">
            <a:solidFill>
              <a:srgbClr val="C9C1B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001206-0B18-49D6-98A6-53EAE6EF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24175"/>
            <a:ext cx="220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Register local dataset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D78AAE-A5E0-44C4-8928-2D48B9E7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813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7620">
            <a:solidFill>
              <a:srgbClr val="C9C1B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2D6A2D-52E8-4FFE-B0DD-418C5D7D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2417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dandiset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3CE69B-5450-4252-8928-080BBC47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813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7620">
            <a:solidFill>
              <a:srgbClr val="C9C1B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A72A08-6B5D-4D11-820A-D8EC7021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2417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BIDS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B1C8FE-A395-4375-A663-3769DD21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813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7620">
            <a:solidFill>
              <a:srgbClr val="C9C1B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E493F2-CAE0-4BDE-8FD5-06A485FB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2417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ALF/session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F2D713-29B1-440D-BF93-5FEB8DD9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7620">
            <a:solidFill>
              <a:srgbClr val="C9C1B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D98F08-C37C-4E1C-B08B-E7D8E21E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20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Index scientific content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687D8B-564A-4927-AD7E-2FF90974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385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7620">
            <a:solidFill>
              <a:srgbClr val="C9C1B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895C7B-B244-48EF-8AF5-F8C1854B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8137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NWB objects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44A9E9-439D-4126-B729-0D1323C2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385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7620">
            <a:solidFill>
              <a:srgbClr val="C9C1B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B1052B-FC01-43DE-9C56-3F02570E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8137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BIDS entities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9A7423-B309-406A-82D4-722353B3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385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7620">
            <a:solidFill>
              <a:srgbClr val="C9C1B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53B05B-715B-4707-87A1-C35155C3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8137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ALF objects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B402A4-93AC-4E29-9481-4801D2EE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7620">
            <a:solidFill>
              <a:srgbClr val="C9C1B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46ED1F-838D-4849-9079-4D42109B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38575"/>
            <a:ext cx="220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List subjects/sessions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1CC399-38DC-4DDB-9CCB-49BE3F88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957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7620">
            <a:solidFill>
              <a:srgbClr val="C9C1B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2F0819-BCDD-46D1-B099-308883ED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3857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NWB metadata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4F5CE9-1711-40DE-984F-CA2340FA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957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7620">
            <a:solidFill>
              <a:srgbClr val="C9C1B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42DC70-01CB-492A-9B2D-4D23B718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3857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sub/ses entities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D97500-886C-4755-BEAB-8E1E567D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957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7620">
            <a:solidFill>
              <a:srgbClr val="C9C1B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CC29A7-5CB7-4E08-B9B7-31872F00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3857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path/session tokens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52CF32-E1AD-426E-BA8C-A201172C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7620">
            <a:solidFill>
              <a:srgbClr val="C9C1B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B4A499-C77E-49A3-B2B7-57B2D3D2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95775"/>
            <a:ext cx="220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Signal inventory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7D11C7-4F64-42F0-B2C5-F7283BC8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529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7620">
            <a:solidFill>
              <a:srgbClr val="C9C1B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91F85D-307F-4688-91CD-F6DC16ED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9577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time series + units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91E7D1-32E1-47DF-BE60-28A4CEF1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529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7620">
            <a:solidFill>
              <a:srgbClr val="C9C1B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2E6B73-F773-45F5-8760-BAD56A38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9577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modalities + events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8499BB-0DAD-421A-AA13-2D7BC139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529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7620">
            <a:solidFill>
              <a:srgbClr val="C9C1B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7A1C77-8BCD-4B4A-A534-8B458582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9577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objects + attributes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26E719D-BF87-4DEE-AF4F-EE019FE2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7620">
            <a:solidFill>
              <a:srgbClr val="C9C1B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9C2520-33F9-4729-887E-ADC4A25F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52975"/>
            <a:ext cx="220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Generate report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5BA2D14-40ED-4809-9255-76A6D4B3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101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7620">
            <a:solidFill>
              <a:srgbClr val="C9C1B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9C42BD-02D3-4E0F-939A-73BB9B7A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5297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Dandiset/NWB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DCA3596-C3CC-4A1D-AEBA-1961C478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101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7620">
            <a:solidFill>
              <a:srgbClr val="C9C1B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AFA3497-066B-49CF-A04C-6C6CC95D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5297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BIDS dataset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B5B4973-D6EE-4EA4-9D41-4917F713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6101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7620">
            <a:solidFill>
              <a:srgbClr val="C9C1B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131228-0820-43C4-BE43-39596738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5297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IBL/ALF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BEF2835-C883-4656-B92C-AC53D36A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28900"/>
            <a:ext cx="11811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E"/>
          </a:solidFill>
          <a:ln xmlns:a="http://schemas.openxmlformats.org/drawingml/2006/main" w="9525">
            <a:solidFill>
              <a:srgbClr val="1F7A8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B05EFA0-A3EB-4418-A987-D2C40438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765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Agent win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4FD49AC-80CC-45CA-9342-09515243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57550"/>
            <a:ext cx="723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The same prompt shape works across archives; only the scientific meaning changes.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91FAB07-CDB3-4856-AEF0-C31A8D78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E0D903D-43BF-49C6-8638-9B72E4D8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Source: docs/reference/tool-compatibility.md and docs/shared-local-explorer.md.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4318F3C-2439-4942-B324-64D7FE84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717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806761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1B75BF-EF68-451D-B010-74278A14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5DD112EE-EA4D-46AB-BE37-161CAE4D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647AA90A-A89B-45B2-B095-EC29C4DC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DANDI DEPTH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AE529-8865-4C9C-8299-B83CC93C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429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DANDI goes from metadata lookup to object-level NWB understanding.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54CA8-6558-4B56-9C57-F5F8C96B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002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A09B0-1DD1-4106-B32B-C562DB9D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6D29D-424F-42A8-A394-B593AE42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62150"/>
            <a:ext cx="561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9525">
            <a:solidFill>
              <a:srgbClr val="C9C1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913F74-F6AA-4723-BBAA-A8321FCD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0669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Resolve Dandiset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5BDC4-56B9-481F-B8E1-96424A7C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76450"/>
            <a:ext cx="3238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Paste a DANDI ID or URL and fetch archive metadata, versions, assets, paper links.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82F87B-A3B4-4480-8EDF-47CFDCF6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5745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C01DA-B52A-42F6-A808-55CD8C81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19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841EA2-C937-4AAD-9C25-3355215C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956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3A18D-10E8-4126-8F7D-C8653901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81300"/>
            <a:ext cx="561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9525">
            <a:solidFill>
              <a:srgbClr val="C9C1B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28CDA2-362B-4E47-B311-3610FBC2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8607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Inspect assets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DD9FDC-A86C-467F-BDCD-65E90540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95600"/>
            <a:ext cx="3238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List NWB/Zarr assets, download URLs, metadata variables, and dataset summaries.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732D53-CD08-4767-B36E-20557579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7660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3B1859-58AC-485C-AAE4-25877A22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141346-B80B-4797-9B9A-6EB1A247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5253E1-3D4F-4408-96C3-4F566C96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00450"/>
            <a:ext cx="561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9525">
            <a:solidFill>
              <a:srgbClr val="C9C1B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F03532-41AB-4777-9704-43821FEB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052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Index local NWB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8A45AF-14FD-4CEC-BBCF-F45E6DBF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14750"/>
            <a:ext cx="3238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Register a local Dandiset path and build a runtime signal inventory without changing source data.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10F449-2B6A-4123-BB30-2BD11EA4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B5DF1A-988E-4D38-B2B5-325BE0B8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6C2334-4E0F-4D07-9EE6-DCF583FB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D5F4C3-66FE-441A-ADA8-6C6C9595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19600"/>
            <a:ext cx="561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9525">
            <a:solidFill>
              <a:srgbClr val="C9C1B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095388-5514-4065-8B47-62DD2A5C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52437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Explain variables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B573A8-7727-4374-966D-B95062EF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533900"/>
            <a:ext cx="3238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Match object paths, units, rates, shapes, papers, and model summaries into one explanation.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406E57-2D88-4995-819F-64090657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2190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3F4B2F-B02B-452F-9CF4-B614D345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FC2D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FC2D1"/>
                </a:solidFill>
                <a:latin typeface="Aptos"/>
                <a:ea typeface="Aptos"/>
                <a:cs typeface="Aptos"/>
              </a:rPr>
              <a:t>What becomes visible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C3DC51-A42E-4E03-9ECA-AA697A74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14650"/>
            <a:ext cx="1428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8EC"/>
                </a:solidFill>
                <a:latin typeface="Aptos"/>
                <a:ea typeface="Aptos"/>
                <a:cs typeface="Aptos"/>
              </a:rPr>
              <a:t>object paths</a:t>
            </a:r>
          </a:p>
          <a:p xmlns:a="http://schemas.openxmlformats.org/drawingml/2006/main">
            <a:pPr algn="l">
              <a:defRPr sz="1125" b="0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8EC"/>
                </a:solidFill>
                <a:latin typeface="Aptos"/>
                <a:ea typeface="Aptos"/>
                <a:cs typeface="Aptos"/>
              </a:rPr>
              <a:t>neurodata types</a:t>
            </a:r>
          </a:p>
          <a:p xmlns:a="http://schemas.openxmlformats.org/drawingml/2006/main">
            <a:pPr algn="l">
              <a:defRPr sz="1125" b="0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8EC"/>
                </a:solidFill>
                <a:latin typeface="Aptos"/>
                <a:ea typeface="Aptos"/>
                <a:cs typeface="Aptos"/>
              </a:rPr>
              <a:t>shapes and rates</a:t>
            </a:r>
          </a:p>
          <a:p xmlns:a="http://schemas.openxmlformats.org/drawingml/2006/main">
            <a:pPr algn="l">
              <a:defRPr sz="1125" b="0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8EC"/>
                </a:solidFill>
                <a:latin typeface="Aptos"/>
                <a:ea typeface="Aptos"/>
                <a:cs typeface="Aptos"/>
              </a:rPr>
              <a:t>units</a:t>
            </a:r>
          </a:p>
          <a:p xmlns:a="http://schemas.openxmlformats.org/drawingml/2006/main">
            <a:pPr algn="l">
              <a:defRPr sz="1125" b="0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8EC"/>
                </a:solidFill>
                <a:latin typeface="Aptos"/>
                <a:ea typeface="Aptos"/>
                <a:cs typeface="Aptos"/>
              </a:rPr>
              <a:t>trial/event previews</a:t>
            </a:r>
          </a:p>
          <a:p xmlns:a="http://schemas.openxmlformats.org/drawingml/2006/main">
            <a:pPr algn="l">
              <a:defRPr sz="1125" b="0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8EC"/>
                </a:solidFill>
                <a:latin typeface="Aptos"/>
                <a:ea typeface="Aptos"/>
                <a:cs typeface="Aptos"/>
              </a:rPr>
              <a:t>validation status</a:t>
            </a:r>
          </a:p>
          <a:p xmlns:a="http://schemas.openxmlformats.org/drawingml/2006/main">
            <a:pPr algn="l">
              <a:defRPr sz="1125" b="0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8EC"/>
                </a:solidFill>
                <a:latin typeface="Aptos"/>
                <a:ea typeface="Aptos"/>
                <a:cs typeface="Aptos"/>
              </a:rPr>
              <a:t>loading code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8355D3-976D-4BFC-9D9F-B060E486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3E1D1B-491B-4833-B98D-CDD7EB19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Source: README.md and dandi-mcp-server docs.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D216AF-EBDB-42B4-9C6E-F3BD2C3F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717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3560300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67ADD3-6AD9-4D28-86C8-A2B59FAB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55EAD1A4-3D7F-4C7B-B5BF-502348BF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11D6F01E-D437-4629-A786-7DF87745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EVIDENCE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52FF38-F93B-4AA2-B52C-EF042608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620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Variable explanations are grounded in metadata, papers, and local context.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658AC3-22B4-4488-83E5-26A16D48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33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The explanation path is designed to say what is known, what was inferred, and what source is missing when a paper PDF is not available.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D77CE-D385-419A-853E-991C4F66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38500"/>
            <a:ext cx="152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E"/>
          </a:solidFill>
          <a:ln xmlns:a="http://schemas.openxmlformats.org/drawingml/2006/main" w="11430">
            <a:solidFill>
              <a:srgbClr val="1F7A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D2FFF-F381-45C8-977D-72A0AC05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099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Dataset</a:t>
            </a:r>
          </a:p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metadata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5C747-DD3C-4580-888C-FE2AC1BB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86000"/>
            <a:ext cx="152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D7"/>
          </a:solidFill>
          <a:ln xmlns:a="http://schemas.openxmlformats.org/drawingml/2006/main" w="11430">
            <a:solidFill>
              <a:srgbClr val="778A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284DF-82F1-4A70-9017-8F08F124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574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Local</a:t>
            </a:r>
          </a:p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signal index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51125-A284-44E8-93E7-B8FE9591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38500"/>
            <a:ext cx="152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D8"/>
          </a:solidFill>
          <a:ln xmlns:a="http://schemas.openxmlformats.org/drawingml/2006/main" w="11430">
            <a:solidFill>
              <a:srgbClr val="D96C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EE470-F586-469D-9238-12494972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099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Related</a:t>
            </a:r>
          </a:p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papers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2DEC3B-9BDD-4C9D-AB8F-AC23C464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81500"/>
            <a:ext cx="152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7FF"/>
          </a:solidFill>
          <a:ln xmlns:a="http://schemas.openxmlformats.org/drawingml/2006/main" w="11430">
            <a:solidFill>
              <a:srgbClr val="4D6C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F8A15-5ED8-46E4-94F3-9BCB29F6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529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summary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6F1017-6304-454E-A466-BD0ACCAD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48050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4BAFD-5C7F-40EA-8526-B78E01F1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1314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rPr>
              <a:t>Variable</a:t>
            </a:r>
          </a:p>
          <a:p xmlns:a="http://schemas.openxmlformats.org/drawingml/2006/main">
            <a:pPr algn="ctr">
              <a:defRPr sz="1200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rPr>
              <a:t>explanation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B7B8EA-C819-44E5-83CB-B9D22E87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957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B9C8D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B9C8D3"/>
                </a:solidFill>
                <a:latin typeface="Aptos"/>
                <a:ea typeface="Aptos"/>
                <a:cs typeface="Aptos"/>
              </a:rPr>
              <a:t>meaning, provenance, code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C1DA08-4440-4E23-B456-365A6088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24250"/>
            <a:ext cx="144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A11981-163F-4714-A7CB-EF8BBE10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8605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A0AAB3-E58D-4CCE-9753-5BE0B68A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2425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BD2FE8-A223-4E5B-864E-6B733B8C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767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8B1053-A06E-468E-823B-562B6D5B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577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9525">
            <a:solidFill>
              <a:srgbClr val="C9C1B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B73533-FC06-4979-9B85-6C732EF9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911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Missing full text is explicit: the tool returns paper titles, identifiers, hints, and a register_paper_pdf call.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51A2CF-B758-4FA9-8BB0-34C13530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F718E1-FFBF-4F5D-98CA-666F5345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Source: docs/reference/tool-compatibility.md and neurodata_literature implementation notes.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C84E3F-10C6-4489-AD75-EC7965BC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717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8791151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5A73BB-A679-4146-B8B7-49B3209D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943C1024-9398-4D46-8922-D2D5FE87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BA0C4A88-CFF7-485B-93CE-2BFE9F60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WEB EXPLORER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0CE5D-9735-4C6C-BE1E-37F08A28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905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The browser experience turns a DANDI link into a working research surface.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22156-532B-4AA0-BF6F-0019337C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543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11430">
            <a:solidFill>
              <a:srgbClr val="1F7A8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FC9B3-237F-4BF5-BDFD-4B0F4C19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543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53361-2E79-438E-9056-5533B99E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Paste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FAD59-C0DA-46E5-9D87-3B3DFA43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DANDI ID or URL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2B716-1B13-4F8C-B24D-B478BA2D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003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CF54E-7559-4E38-8339-008BE997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622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BFBE8-3DED-424A-BA83-73D327B9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24100"/>
            <a:ext cx="1543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11430">
            <a:solidFill>
              <a:srgbClr val="4D6C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203D31-676D-473B-9F1A-2D40CC1A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24100"/>
            <a:ext cx="1543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C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562D98-C1BE-4943-AE06-A57549CA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098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Resolve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990D4B-456F-4201-BB5B-BC335F9F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14650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dataset page + papers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9F0453-3AA0-490F-967E-908D3AAC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003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94215F-BE9E-429C-8612-C77F74B5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622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285BDD-4396-4248-90B2-3E89B054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24100"/>
            <a:ext cx="1543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11430">
            <a:solidFill>
              <a:srgbClr val="778A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BAC11E-0D28-49DD-B7BA-418CE269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24100"/>
            <a:ext cx="1543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71D2B8-1534-4B9F-899D-1B85D813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098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Index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C4F0F0-6513-4A77-81FF-489622E9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14650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local NWB path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83C2D9-145C-44DD-AB3C-B96F3330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03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997B8B-1D89-4B2A-A8C2-70EF1FA6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622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BA9FE6-97D3-4CBB-B6A9-BD31E034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24100"/>
            <a:ext cx="1543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11430">
            <a:solidFill>
              <a:srgbClr val="D96C2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4FA86E-0BA4-4655-B730-863CB3EB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24100"/>
            <a:ext cx="1543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A28C35-399F-4D80-864A-34732BD3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098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Select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19F6AF-801C-4B1C-8A7A-E3F51F84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14650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variable map row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42C6C0-1423-4AA6-94A6-3409BCA4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03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57DF64-AF2F-4FAF-BBCB-CADAAF37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ECE3E8-3C73-47D7-A0B1-3AE35372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24100"/>
            <a:ext cx="1543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11430">
            <a:solidFill>
              <a:srgbClr val="1F7A8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8B2D04-C4B8-4E34-9BE8-DA37D45A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24100"/>
            <a:ext cx="1543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3CB0A7-EC33-4683-8144-17F76D5E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098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Export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099A75-7087-4639-929B-022BE103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14650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code + skill zip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4C35E5-2A5F-4810-B8D8-CB2A9E98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4362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BC8E86-DA1F-4893-A768-32C37195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24350"/>
            <a:ext cx="371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rPr>
              <a:t>Built-in docs live inside the hosted app.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1DF43B-2809-49FC-AC3F-23CD6E93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672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9C8D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9C8D3"/>
                </a:solidFill>
                <a:latin typeface="Aptos"/>
                <a:ea typeface="Aptos"/>
                <a:cs typeface="Aptos"/>
              </a:rPr>
              <a:t>The same product explains what it is, how to run it, where data is stored, and how to deploy 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B22959-693C-4F31-8EDE-12F56B69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3829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C9C1B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55FD09-A3D4-4B3B-91A1-B1D62AAD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243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AI summaries are optional.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5858B4-5F4D-4036-B29A-37637E4A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48200"/>
            <a:ext cx="3009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The app can use an OpenAI-compatible local or hosted endpoint, and gracefully shows unavailable status when none is configured.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9D3263-49BE-4ADA-B24D-A1A1121C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62447A-04CB-40FB-A74D-58BAEF53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Source: web-app/README.md and web-app/frontend implementation.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494831-F206-4DF4-AA80-B33C40AF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717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7078347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E4174C-554A-4557-B5A9-4898DCDB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8352487F-9408-45F1-9F1E-8EA3EACD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007FA32B-F4F1-497B-BFFB-F2EEBBE2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01E298-FA34-4C9C-BF2F-4DD739D8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191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The deployable app separates public metadata, private local data, runtime indexes, and model calls.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34F0E-96F9-4572-B3E8-1D4AAFFC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7FF"/>
          </a:solidFill>
          <a:ln xmlns:a="http://schemas.openxmlformats.org/drawingml/2006/main" w="11430">
            <a:solidFill>
              <a:srgbClr val="4D6C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CF071-E3C6-4724-9323-79C0E1A3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React 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F03534-8CBF-4FFE-BC31-DCBDBAEF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dataset page</a:t>
            </a:r>
          </a:p>
          <a:p xmlns:a="http://schemas.openxmlformats.org/drawingml/2006/main">
            <a:pPr algn="l">
              <a:defRPr sz="75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variable map</a:t>
            </a:r>
          </a:p>
          <a:p xmlns:a="http://schemas.openxmlformats.org/drawingml/2006/main">
            <a:pPr algn="l">
              <a:defRPr sz="75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docs screen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BBC60B-A8A9-479D-890A-F68F03E8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19350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11430">
            <a:solidFill>
              <a:srgbClr val="1F7A8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515F3B-4610-4C66-8EC0-3FAFEED0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717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FastAPI backend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68AD4-8A1D-4AFF-ADFF-9F62B17C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194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resolve</a:t>
            </a:r>
          </a:p>
          <a:p xmlns:a="http://schemas.openxmlformats.org/drawingml/2006/main">
            <a:pPr algn="l">
              <a:defRPr sz="75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variables</a:t>
            </a:r>
          </a:p>
          <a:p xmlns:a="http://schemas.openxmlformats.org/drawingml/2006/main">
            <a:pPr algn="l">
              <a:defRPr sz="75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explain</a:t>
            </a:r>
          </a:p>
          <a:p xmlns:a="http://schemas.openxmlformats.org/drawingml/2006/main">
            <a:pPr algn="l">
              <a:defRPr sz="75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skill.zip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FCF4C5-13DB-4181-8B05-AB2BC5CE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095750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D7"/>
          </a:solidFill>
          <a:ln xmlns:a="http://schemas.openxmlformats.org/drawingml/2006/main" w="11430">
            <a:solidFill>
              <a:srgbClr val="778A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0DAECE-2813-4516-92FE-5D602841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481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Runtime storage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9C015-4EC0-4044-B599-B9F54BAF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958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cache</a:t>
            </a:r>
          </a:p>
          <a:p xmlns:a="http://schemas.openxmlformats.org/drawingml/2006/main">
            <a:pPr algn="l">
              <a:defRPr sz="75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indexes</a:t>
            </a:r>
          </a:p>
          <a:p xmlns:a="http://schemas.openxmlformats.org/drawingml/2006/main">
            <a:pPr algn="l">
              <a:defRPr sz="75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downloads</a:t>
            </a:r>
          </a:p>
          <a:p xmlns:a="http://schemas.openxmlformats.org/drawingml/2006/main">
            <a:pPr algn="l">
              <a:defRPr sz="75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reports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115676-04E7-4873-91F4-6D6BD565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05000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E"/>
          </a:solidFill>
          <a:ln xmlns:a="http://schemas.openxmlformats.org/drawingml/2006/main" w="11430">
            <a:solidFill>
              <a:srgbClr val="1F7A8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816636-BD60-4303-BE8F-DAFB9E3C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574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DANDI archive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CD9542-5017-46F2-B8E7-EF6200A7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050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metadata</a:t>
            </a:r>
          </a:p>
          <a:p xmlns:a="http://schemas.openxmlformats.org/drawingml/2006/main">
            <a:pPr algn="l">
              <a:defRPr sz="75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assets</a:t>
            </a:r>
          </a:p>
          <a:p xmlns:a="http://schemas.openxmlformats.org/drawingml/2006/main">
            <a:pPr algn="l">
              <a:defRPr sz="75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papers</a:t>
            </a:r>
          </a:p>
          <a:p xmlns:a="http://schemas.openxmlformats.org/drawingml/2006/main">
            <a:pPr algn="l">
              <a:defRPr sz="75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URLs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C6A5DE-8F65-429B-A3E4-23AB296C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48050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D8"/>
          </a:solidFill>
          <a:ln xmlns:a="http://schemas.openxmlformats.org/drawingml/2006/main" w="11430">
            <a:solidFill>
              <a:srgbClr val="D96C2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945C23-7779-471D-B349-BFA6EFFB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004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Local Dandiset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3CA90E-6C71-468A-84BA-4297BE0B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481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NWB files stay</a:t>
            </a:r>
          </a:p>
          <a:p xmlns:a="http://schemas.openxmlformats.org/drawingml/2006/main">
            <a:pPr algn="l">
              <a:defRPr sz="75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outside git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9F9FFE-D08F-46BD-B22B-D6D8416C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57750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7FF"/>
          </a:solidFill>
          <a:ln xmlns:a="http://schemas.openxmlformats.org/drawingml/2006/main" w="11430">
            <a:solidFill>
              <a:srgbClr val="4D6C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DF803B-C2B4-47CF-A5C9-BE439F3F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0101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Model endpoint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7BC45A-91EB-4CDD-A765-FCF0B906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2578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OpenAI-compatible</a:t>
            </a:r>
          </a:p>
          <a:p xmlns:a="http://schemas.openxmlformats.org/drawingml/2006/main">
            <a:pPr algn="l">
              <a:defRPr sz="750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optional summaries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326EB8-CC7B-416B-AC9C-33A24695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86075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491435-14E5-447C-A2AE-2A85AB6D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8125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B5A6ED-B574-4137-B3C5-20D4D19E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81250"/>
            <a:ext cx="190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E664A6-0F8A-4915-9339-80AE0DF0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5280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D837EF-FD68-42B6-8A14-E44D35D5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52800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C61C3F-6E2A-4D22-B9D5-83556258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9243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E030BD-47B0-44E3-8A6D-6CFBCED2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24300"/>
            <a:ext cx="19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6428DC-3A52-471F-8442-A150BD05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86075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0A34F2-F13B-4F7A-A717-C71FD97A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86075"/>
            <a:ext cx="19050" cy="2447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4B0F24-313E-40AF-A16E-379E4BE9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502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7772EA-0DD0-4AF7-8B1A-3D5B7484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0065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FF8EC"/>
                </a:solidFill>
                <a:latin typeface="Aptos"/>
                <a:ea typeface="Aptos"/>
                <a:cs typeface="Aptos"/>
              </a:rPr>
              <a:t>Data rule: repository ships code, docs, configs, and reproducible hosting assets; local NWB files and generated artifacts stay in runtime/user paths.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EB9B22-8E7E-4B6C-AEAF-BEA7F3D0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28F130-74C8-458E-A845-055650D5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Source: README.md, web-app/README.md, api/index.py, docker-compose.web.yml.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1FFD4F-80A9-4ABA-AC93-2D090554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717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249582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A8AA7B-C3D3-4883-8593-A2DD2321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C1293808-609F-4F9D-866C-E730B4AF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4BAAAB4B-8328-48AE-B05E-44CDE0D6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HOW TO USE 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3CA2E-FCB3-4CAE-B63F-F4A1A9E1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81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rPr>
              <a:t>A user can start locally, then expand into MCP clients and hosted workflows.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7D60F-7635-4F91-80AF-F2C502DE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C8D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C8D3"/>
                </a:solidFill>
                <a:latin typeface="Aptos"/>
                <a:ea typeface="Aptos"/>
                <a:cs typeface="Aptos"/>
              </a:rPr>
              <a:t>Fastest path: run the web app as one Docker service, open the browser, paste a DANDI ID, and index a local path only when deeper NWB variables are needed.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527DF-0C71-41BA-B05F-0B59D016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400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B33C0-EABA-4F42-B561-1469C420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362B44-A390-4366-845D-AE4A2009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0030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C"/>
          </a:solidFill>
          <a:ln xmlns:a="http://schemas.openxmlformats.org/drawingml/2006/main" w="9525">
            <a:solidFill>
              <a:srgbClr val="5360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82525-C7B5-446C-A7D5-C4ED78D8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9555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FF8EC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FFF8EC"/>
                </a:solidFill>
                <a:latin typeface="Aptos Mono"/>
                <a:ea typeface="Aptos Mono"/>
                <a:cs typeface="Aptos Mono"/>
              </a:rPr>
              <a:t>docker compose -f docker-compose.web.yml up --build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220D3C-702B-497C-BFB0-48046A25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400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2A2A01-1A0E-47EA-A9F4-4186BE46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97AA4-113F-4878-B40C-AC726C5B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5275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C"/>
          </a:solidFill>
          <a:ln xmlns:a="http://schemas.openxmlformats.org/drawingml/2006/main" w="9525">
            <a:solidFill>
              <a:srgbClr val="5360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8C0FB7-2BD9-43FD-906B-E4375B64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4800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FF8EC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FFF8EC"/>
                </a:solidFill>
                <a:latin typeface="Aptos Mono"/>
                <a:ea typeface="Aptos Mono"/>
                <a:cs typeface="Aptos Mono"/>
              </a:rPr>
              <a:t>open http://127.0.0.1:8787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EF66BF-3F40-40C0-89B6-E5A755CC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05200"/>
            <a:ext cx="400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246A57-D26B-4AB7-AAEE-7A14D9AE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79D7B4-2DB3-48D9-84E0-A92F7E8D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50520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C"/>
          </a:solidFill>
          <a:ln xmlns:a="http://schemas.openxmlformats.org/drawingml/2006/main" w="9525">
            <a:solidFill>
              <a:srgbClr val="5360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73E67C-6CE3-4662-87D9-6BA48307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0045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FF8EC"/>
                </a:solidFill>
                <a:latin typeface="Aptos"/>
                <a:ea typeface="Aptos"/>
                <a:cs typeface="Aptos"/>
              </a:rPr>
              <a:t>paste a DANDI ID or URL, e.g. 001097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4877AA-CEAC-4190-A9F9-155E8ABC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400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6114D7-386A-45A2-B0F8-D1A42373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24A441-ECD5-41C5-B579-EEBCA8BB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5765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C"/>
          </a:solidFill>
          <a:ln xmlns:a="http://schemas.openxmlformats.org/drawingml/2006/main" w="9525">
            <a:solidFill>
              <a:srgbClr val="5360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E4D73E-F3BF-4F6A-93E1-3A0F91E0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5290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FF8EC"/>
                </a:solidFill>
                <a:latin typeface="Aptos"/>
                <a:ea typeface="Aptos"/>
                <a:cs typeface="Aptos"/>
              </a:rPr>
              <a:t>optional: index /absolute/path/to/dandiset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811200-FADE-44B4-8537-CDBF9A98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400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820D04-E4E4-44FB-88EA-D8CCF4C8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4C9C73-3A9E-4C7F-ADFF-5A7F53E6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1010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C"/>
          </a:solidFill>
          <a:ln xmlns:a="http://schemas.openxmlformats.org/drawingml/2006/main" w="9525">
            <a:solidFill>
              <a:srgbClr val="5360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FCB218-D46F-44EA-A68A-33397CFE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0535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FF8EC"/>
                </a:solidFill>
                <a:latin typeface="Aptos"/>
                <a:ea typeface="Aptos"/>
                <a:cs typeface="Aptos"/>
              </a:rPr>
              <a:t>export a dataset skill or use generated loading code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3F91B5-4C73-4CEB-8845-28E272E5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00300"/>
            <a:ext cx="20764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EFC9C1-9350-45F3-82CE-73748D18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670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MCP setup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5A345E-2864-4B62-8EAA-713292A6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67050"/>
            <a:ext cx="1562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python harness/check_servers.py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638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python harness/generate_mcp_config.py --format mcp-json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7CDAB1-0437-4784-920A-306EB805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243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Use the generated config with Claude Desktop, Codex-style agents, OpenCode-style runners, or JSON MCP clients.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9C99D8-3A1C-4A40-A79A-50BFE7AC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0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16BAE8-BDCF-4396-B99E-2B1BCD06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EB9C4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AEB9C4"/>
                </a:solidFill>
                <a:latin typeface="Aptos"/>
                <a:ea typeface="Aptos"/>
                <a:cs typeface="Aptos"/>
              </a:rPr>
              <a:t>Source: README.md quick start and harness docs.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60C98C-76C4-4E82-A717-83C34473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EB9C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EB9C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1250211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818E7F-85B1-4B4B-A969-8F05C3C4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B9723878-808E-49B8-8883-98C31476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23F431D2-7476-4469-94E5-00E7AA1E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DEPLOYMENT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B58A6-FA17-4DDF-BC49-ADD19A02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The same codebase supports local, Docker, and Vercel-facing paths with clear data boundaries.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BA6B5-6B51-40BC-A38F-506977F0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2800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9525">
            <a:solidFill>
              <a:srgbClr val="C9C1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FE44A-00DE-4229-8147-91BFB92E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2800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C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4DF170-6E2C-4EC4-BB92-15FFD64D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Local dev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1BDB8-74B5-4510-B5CD-3C8B19E7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0375"/>
            <a:ext cx="2209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Backend and frontend run separately for iteration.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1B81B0-CA3E-4074-8F91-393E3D34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220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C9C1B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B651D-2DE4-4B53-94EE-4491BFBC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90950"/>
            <a:ext cx="1943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uvicorn neurodata_web.main:app</a:t>
            </a:r>
          </a:p>
          <a:p xmlns:a="http://schemas.openxmlformats.org/drawingml/2006/main">
            <a:pPr algn="l">
              <a:defRPr sz="713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npm run dev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4619C-C5E3-4041-8CD2-D435D3B2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28850"/>
            <a:ext cx="2800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F6411E-FEEA-4ADB-B390-EE8CA47B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28850"/>
            <a:ext cx="2800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FDA49-9B39-4709-A1DB-BDBD8F0C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rPr>
              <a:t>Docker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1F2D58-034F-4E58-9DDD-0A0186DA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00375"/>
            <a:ext cx="2209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9C8D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9C8D3"/>
                </a:solidFill>
                <a:latin typeface="Aptos"/>
                <a:ea typeface="Aptos"/>
                <a:cs typeface="Aptos"/>
              </a:rPr>
              <a:t>Single service serves built React frontend and FastAPI backend.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F06073-D12A-44E4-8215-1D98681D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38550"/>
            <a:ext cx="220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945"/>
          </a:solidFill>
          <a:ln xmlns:a="http://schemas.openxmlformats.org/drawingml/2006/main" w="9525">
            <a:solidFill>
              <a:srgbClr val="5360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F64184-2546-42B0-9A5C-A5A7BDD6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90950"/>
            <a:ext cx="1943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8EC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FFF8EC"/>
                </a:solidFill>
                <a:latin typeface="Aptos Mono"/>
                <a:ea typeface="Aptos Mono"/>
                <a:cs typeface="Aptos Mono"/>
              </a:rPr>
              <a:t>docker compose -f docker-compose.web.yml up --build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1304F2-9366-4DA7-806C-328CE7AE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28850"/>
            <a:ext cx="2800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9525">
            <a:solidFill>
              <a:srgbClr val="C9C1B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375D05-A583-4F5E-9157-542BA180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28850"/>
            <a:ext cx="2800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234B29-C1EA-4854-97AE-79BA4F58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Vercel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B8D930-1B76-460E-B1F6-6064CE63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00375"/>
            <a:ext cx="2209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Static frontend plus /api routes to FastAPI; best for public metadata/docs.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BC2B20-A2CD-42EE-A720-63FAD1BE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220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C9C1B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3BB5EE-38BD-4782-8B7B-A66158BF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90950"/>
            <a:ext cx="1943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npx vercel --prod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007F2E-E6B7-4CD4-82A7-2FFA11EF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24450"/>
            <a:ext cx="805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D8"/>
          </a:solidFill>
          <a:ln xmlns:a="http://schemas.openxmlformats.org/drawingml/2006/main" w="9525">
            <a:solidFill>
              <a:srgbClr val="D96C2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5AA403-2155-438C-AD87-C9AE08A6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57800"/>
            <a:ext cx="765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Boundary rule: Vercel is treated as public metadata and documentation host unless external storage is attached; local filesystem indexing belongs in local or Docker runs.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CB92FE-A73A-4A10-B7CB-7923ADB8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92A17C-F454-4C53-8C97-8B8FB53B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Source: README.md, web-app/README.md, vercel.json, docker-compose.web.yml.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8871B6-B259-4A28-88EC-DBB4D878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717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8884761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CCE3BC-CFDE-4DCB-AB05-051BE836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59E34516-89C1-4B19-BD40-F1CD2D4F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31103EB0-25CD-47F3-88DE-38291CC6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USER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7CF22-910A-42F0-9098-DCF52859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Every feature maps to a concrete research workflow bottleneck.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07F51-3692-4813-A40F-21A730E3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25B85-ED02-49C5-AB23-230B2F54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860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Bottleneck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CEBC26-1A97-4EAA-B898-C1472DE1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9075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5ACC7-B1D1-4209-BB42-0379A0FA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860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Product capability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E4CE4-1615-48D6-A8C1-5C3F911B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9075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1249F4-C911-416A-8923-B99447D1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860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Research outcome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0D1D60-4E21-419E-8C49-870E2686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2724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7620">
            <a:solidFill>
              <a:srgbClr val="C9C1B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C3C14-3365-462B-A0C8-C999D413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432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Finding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EBF737-EE48-4038-9F30-F06A3337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533650"/>
            <a:ext cx="2724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7620">
            <a:solidFill>
              <a:srgbClr val="C9C1B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FC679B-342B-4FCC-B2CA-3C5C9A0F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432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Archive-native MCP search and summaries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0DF10-4FE3-499D-B9E6-567C5F71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33650"/>
            <a:ext cx="2724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7620">
            <a:solidFill>
              <a:srgbClr val="C9C1B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DE8E7-7DDF-4C7E-845B-0BE54D10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432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less manual API navigation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D5A7D0-BBF4-4F6F-B34A-6E188A5E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2724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7620">
            <a:solidFill>
              <a:srgbClr val="C9C1B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9202D1-57E0-43E0-AAEB-344C7838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909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Understanding files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BA70B3-C426-469D-A140-07669712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81350"/>
            <a:ext cx="2724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7620">
            <a:solidFill>
              <a:srgbClr val="C9C1B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4F7425-27B9-47CE-BC97-ADE6FACC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909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NWB/BIDS/ALF local indexing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5CE5CA-3F7C-487F-9BD0-6790231D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81350"/>
            <a:ext cx="2724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7620">
            <a:solidFill>
              <a:srgbClr val="C9C1B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804C59-0FB5-4E54-9306-F077C68C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909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analysis-ready inventory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85C0C3-C66B-4383-9B96-0B33C0BC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2724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7620">
            <a:solidFill>
              <a:srgbClr val="C9C1B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DB6C23-E2F1-4CC1-BA4C-448EF01B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386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Explaining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F0EDE3-AF94-4F97-9955-E94F5FCB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29050"/>
            <a:ext cx="2724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7620">
            <a:solidFill>
              <a:srgbClr val="C9C1B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1E3AC6-1A61-4D49-AA4D-D8CC6F55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386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metadata + papers + local context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14DDDA-F4F3-41AF-B201-E7FDE7D1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29050"/>
            <a:ext cx="2724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7620">
            <a:solidFill>
              <a:srgbClr val="C9C1B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649A48-EA67-48C3-9835-09F747E6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386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grounded interpretation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C7E116-D90F-47EB-BB3F-46D5A74D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2724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7620">
            <a:solidFill>
              <a:srgbClr val="C9C1B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F62C6D-4D6F-48FE-964D-1CB39CFB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863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Reusing workflow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A8FA40-5FBD-452B-A3F9-17A25FA3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76750"/>
            <a:ext cx="2724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7620">
            <a:solidFill>
              <a:srgbClr val="C9C1B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B69846-7386-4F2E-8ED5-1B46F64F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863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reports, loading code, skill zip exports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6768FB-889A-4DA5-A6D7-43A26F49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76750"/>
            <a:ext cx="2724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7620">
            <a:solidFill>
              <a:srgbClr val="C9C1B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16EA4F-690C-46B7-8CC6-19506B5C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863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portable agent context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494498-4FA3-4F4F-8CCE-8C1E1860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819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Product logic: the system does not just retrieve data; it preserves enough context for agents and researchers to make the next analysis step legible.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FB86CE-70E5-4ED9-9880-7CE00CE4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0F6192-9272-4DF7-8A8C-E0DFC443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Source: local repo docs and git history, May 17, 2026.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610ABD-0D4A-473F-912F-7036A925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717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9093959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EAADF7-E765-4D7E-BC08-A856A204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27C65F2C-AA4C-4282-8B2B-14F30809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37ACEFA1-D5A2-4239-87B1-0BABFD55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DEMO SCRIPT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77720-537C-48E6-80E4-EC5C4982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 seven-minute demo can show real product movement, not slides about intent.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4CCA2-4753-4680-A4E4-3E90A628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123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C9C1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1A668-30DE-43EC-AAD5-38D8D4CC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0:00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6EA84-9AC1-4450-8E37-95BEE913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861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Open 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9F11A-E3A9-41DF-8A0F-8E2BFC31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show health status and docs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AAC35-B909-4D5D-8F2F-415992D7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33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80184-4E95-4263-8833-FC7CFFA8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43250"/>
            <a:ext cx="123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9525">
            <a:solidFill>
              <a:srgbClr val="C9C1B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80B2F8-1F5C-413C-B692-EF0FD3BA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2766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0:45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CA444D-FDAA-4F7F-8955-0638C700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052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Resolve 001097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63C4A5-B2AF-4F1B-BD00-12E96667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147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turn ID into dataset page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D86399-1DD4-4796-BD4C-A002D28A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33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DD31CA-96FE-4E3B-86C5-9928D39D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24150"/>
            <a:ext cx="123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C9C1B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2C27EA-3D8C-4B0D-A7A3-5880008A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575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2:00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627C20-CF92-44B2-A551-6097590B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861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Open variable 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142D29-6D74-48F1-BD6B-E148E716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956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show metadata-level variables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4AB6B0-AE95-4016-8314-A10D16F7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33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AC6319-E0B8-45F5-8910-F4257E96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43250"/>
            <a:ext cx="123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9525">
            <a:solidFill>
              <a:srgbClr val="C9C1B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8F407E-9E09-42C5-8B31-45104524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766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3:15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4ADCFF-7344-4E37-8415-A57E1490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052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Index local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DBAFF4-391D-45CD-9068-677CD25F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147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unlock object paths and units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AC86D6-E9D5-409A-843D-695114D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33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C37820-E5E4-47C7-91AE-567DC3EA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24150"/>
            <a:ext cx="123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D96C2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1B64C5-24EC-426A-8523-A39A1BA2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575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6C2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6C2C"/>
                </a:solidFill>
                <a:latin typeface="Aptos"/>
                <a:ea typeface="Aptos"/>
                <a:cs typeface="Aptos"/>
              </a:rPr>
              <a:t>5:00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F66B63-7EBD-41D5-A30E-34DE2F45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861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Explain variable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8F24E2-1D50-4218-8E8D-5D99BFDD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956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show evidence, provenance, code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308E5A-4FBB-409D-9CAB-3DE70D2A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33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E63586-5D09-44A9-A01C-3D0B9F7D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43250"/>
            <a:ext cx="123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9525">
            <a:solidFill>
              <a:srgbClr val="C9C1B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9718F1-E376-4738-9E59-2237111E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766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6:30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751FF8-473B-4ABB-98A0-384AD8F7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052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Export skill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254724-904B-4B96-A446-B7A629EC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147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portable dataset context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BFBE16-F454-4320-BE67-A61AE9AB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57750"/>
            <a:ext cx="666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56110A-9E17-472B-9797-2E7120AF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10150"/>
            <a:ext cx="605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70" b="0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FFF8EC"/>
                </a:solidFill>
                <a:latin typeface="Aptos"/>
                <a:ea typeface="Aptos"/>
                <a:cs typeface="Aptos"/>
              </a:rPr>
              <a:t>Best live proof: use one DANDI URL, then show the same underlying dataset becoming a browser page, a local index, an explanation, code, and an exported reusable skill.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1CCEDD-1D77-4081-89EC-92098344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CA0477-E433-47E6-B1E9-0DB62F2D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Source: local repo docs and git history, May 17, 2026.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1C6F94-081E-4A6D-A08A-C83C4A61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717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7317451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9A5AA7-8FCB-4C89-900B-BDCD5C14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59308BC5-9C9E-4A62-91CA-ED9170D5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D2DD4601-1D49-4FC5-BE3C-AAED0EE7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3022D-2B25-4FD9-9DFC-A5580AFF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250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rPr>
              <a:t>The next step is live validation with real datasets and early users.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6E842-6CE9-41A7-9CCF-40B1297D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2D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D2DB"/>
                </a:solidFill>
                <a:latin typeface="Aptos"/>
                <a:ea typeface="Aptos"/>
                <a:cs typeface="Aptos"/>
              </a:rPr>
              <a:t>What we have now is enough to demo, deploy, and learn: archive-native MCP tools, a shared local explorer, literature-aware variable explanation, a browser app, hosting assets, docs, and tests.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F26F4-9985-4581-BED9-A79ED812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9BB3B-4B82-4FAB-A9F2-274F068B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575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rPr>
              <a:t>Live dataset demos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70707-CBE9-4B4B-AFD9-A58FA7C8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861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2D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2DB"/>
                </a:solidFill>
                <a:latin typeface="Aptos"/>
                <a:ea typeface="Aptos"/>
                <a:cs typeface="Aptos"/>
              </a:rPr>
              <a:t>Run through DANDI 001097 and one local NWB path end to end.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E143A-A3BD-467C-8961-A451488A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8A1BA-3335-487F-9C49-3624DF2D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624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rPr>
              <a:t>User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E18B67-7217-42B0-B598-64CF1FA2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909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2D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2DB"/>
                </a:solidFill>
                <a:latin typeface="Aptos"/>
                <a:ea typeface="Aptos"/>
                <a:cs typeface="Aptos"/>
              </a:rPr>
              <a:t>Put the workflow in front of researchers who already struggle with dataset reuse.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18F6-C671-4D03-90B8-9CA02997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C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CBA651-A001-48B1-9590-ED21A7CB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672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rPr>
              <a:t>Distribution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E7539-564D-4028-93EC-3E87F26D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958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2D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2DB"/>
                </a:solidFill>
                <a:latin typeface="Aptos"/>
                <a:ea typeface="Aptos"/>
                <a:cs typeface="Aptos"/>
              </a:rPr>
              <a:t>Package the suite for agent clients and make hosted metadata exploration frictionless.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9E1241-3616-4A9E-86EA-B14ECF1E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104900"/>
            <a:ext cx="20002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C"/>
          </a:solidFill>
          <a:ln xmlns:a="http://schemas.openxmlformats.org/drawingml/2006/main" w="9525">
            <a:solidFill>
              <a:srgbClr val="5360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2C9C92-6D91-41EB-A1F7-69F258D3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097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rPr>
              <a:t>Ask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4E823E-21AC-4AAC-8BC8-08ADF76C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85950"/>
            <a:ext cx="1333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DFE6"/>
                </a:solidFill>
                <a:latin typeface="Aptos"/>
                <a:ea typeface="Aptos"/>
                <a:cs typeface="Aptos"/>
              </a:rPr>
              <a:t>Pick two datasets.</a:t>
            </a:r>
          </a:p>
          <a:p xmlns:a="http://schemas.openxmlformats.org/drawingml/2006/main">
            <a:pPr algn="l">
              <a:defRPr sz="1200" b="0">
                <a:solidFill>
                  <a:srgbClr val="D8DFE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DFE6"/>
                </a:solidFill>
                <a:latin typeface="Aptos"/>
                <a:ea typeface="Aptos"/>
                <a:cs typeface="Aptos"/>
              </a:rPr>
              <a:t>Run the demo.</a:t>
            </a:r>
          </a:p>
          <a:p xmlns:a="http://schemas.openxmlformats.org/drawingml/2006/main">
            <a:pPr algn="l">
              <a:defRPr sz="1200" b="0">
                <a:solidFill>
                  <a:srgbClr val="D8DFE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DFE6"/>
                </a:solidFill>
                <a:latin typeface="Aptos"/>
                <a:ea typeface="Aptos"/>
                <a:cs typeface="Aptos"/>
              </a:rPr>
              <a:t>Watch where users hesitate.</a:t>
            </a:r>
          </a:p>
          <a:p xmlns:a="http://schemas.openxmlformats.org/drawingml/2006/main">
            <a:pPr algn="l">
              <a:defRPr sz="1200" b="0">
                <a:solidFill>
                  <a:srgbClr val="D8DFE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DFE6"/>
                </a:solidFill>
                <a:latin typeface="Aptos"/>
                <a:ea typeface="Aptos"/>
                <a:cs typeface="Aptos"/>
              </a:rPr>
              <a:t>Turn those moments into the next product sprint.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4373EC-2BE4-4EF2-9DE2-0CA936B9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862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EB9C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EB9C4"/>
                </a:solidFill>
                <a:latin typeface="Aptos"/>
                <a:ea typeface="Aptos"/>
                <a:cs typeface="Aptos"/>
              </a:rPr>
              <a:t>Neurodata Without Barriers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48D56C-BFA7-4232-9120-05854C79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0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4238ED-7B3E-4B82-9797-63D87158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EB9C4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AEB9C4"/>
                </a:solidFill>
                <a:latin typeface="Aptos"/>
                <a:ea typeface="Aptos"/>
                <a:cs typeface="Aptos"/>
              </a:rPr>
              <a:t>Source: product state from local repository, May 17, 2026.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550AA2-75A2-42E2-93EE-9DD0FB96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EB9C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EB9C4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784037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2026-05-17T09:58:15.2740000Z</dcterms:created>
  <dcterms:modified xsi:type="dcterms:W3CDTF">2026-05-17T09:58:15.2740000Z</dcterms:modified>
</coreProperties>
</file>